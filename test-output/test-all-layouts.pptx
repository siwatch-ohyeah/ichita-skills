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dark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0"/>
            <a:ext cx="73152" cy="514350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Ichita Slide Library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Layout Test Deck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78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All layout types and block components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D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Core Layouts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Cover, Content, Two-Column, Grid, KPI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pic>
        <p:nvPicPr>
          <p:cNvPr id="6" name="Image 0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Membrane Filtration Technology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57200" y="11430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Ichita delivers integrated membrane separation systems for liquid purification across water treatment, liquid sugar, starch-tapioca syrup, biochemical, and ethanol applications.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Our portfolio covers UF, NF, RO, and EDI — from laboratory pilot scale through full commercial EPC turn-key installations. Each system is engineered to the process, not sized off the shelf.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4183380"/>
            <a:ext cx="9144000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183380"/>
            <a:ext cx="54864" cy="5029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82880" y="42291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Key principle: separation performance is defined at the system level, not by any single membrane unit.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Core Technology Offering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66928" y="1315212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8096" y="1143000"/>
            <a:ext cx="3712464" cy="457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Ultrafiltration (UF)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8096" y="1600657"/>
            <a:ext cx="3712464" cy="54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Pre-treatment for RO/NF; removes suspended solids, bacteria, and colloids. MWCO 5–100 kDa.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" y="2404872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2232660"/>
            <a:ext cx="3712464" cy="457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Nanofiltration (NF) — Microdynadir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68096" y="2690317"/>
            <a:ext cx="3712464" cy="54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Selective ion removal and colour reduction. Operates between RO and UF pressure ranges.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6928" y="3494532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3322320"/>
            <a:ext cx="3712464" cy="457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Reverse Osmosis (RO) — CSM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8096" y="3779977"/>
            <a:ext cx="3712464" cy="54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High-rejection desalination and demineralisation. TDS reduction &gt; 98%.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097280"/>
            <a:ext cx="4023360" cy="154305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1188720"/>
            <a:ext cx="384048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98%+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4754880" y="2100263"/>
            <a:ext cx="384048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TDS Rejection (RO)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2823210"/>
            <a:ext cx="4023360" cy="1543050"/>
          </a:xfrm>
          <a:prstGeom prst="roundRect">
            <a:avLst>
              <a:gd name="adj" fmla="val 5926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2914650"/>
            <a:ext cx="384048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63338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5 kDa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4754880" y="3826192"/>
            <a:ext cx="3840480" cy="462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Min MWCO (UF)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Project Portfolio at a Glance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97280"/>
            <a:ext cx="2651760" cy="3268980"/>
          </a:xfrm>
          <a:prstGeom prst="roundRect">
            <a:avLst>
              <a:gd name="adj" fmla="val 3448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246888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120+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48640" y="3222117"/>
            <a:ext cx="246888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Completed Projects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46120" y="1097280"/>
            <a:ext cx="2651760" cy="3268980"/>
          </a:xfrm>
          <a:prstGeom prst="roundRect">
            <a:avLst>
              <a:gd name="adj" fmla="val 3448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37560" y="1188720"/>
            <a:ext cx="246888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63338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20+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337560" y="3222117"/>
            <a:ext cx="246888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Years of Operation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51760" cy="3268980"/>
          </a:xfrm>
          <a:prstGeom prst="roundRect">
            <a:avLst>
              <a:gd name="adj" fmla="val 3448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1188720"/>
            <a:ext cx="2468880" cy="1961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99.2%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6126480" y="3222117"/>
            <a:ext cx="2468880" cy="980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System Uptime (avg)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Membrane Technology Coverage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97280"/>
            <a:ext cx="4023360" cy="1565910"/>
          </a:xfrm>
          <a:prstGeom prst="roundRect">
            <a:avLst>
              <a:gd name="adj" fmla="val 5839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188720"/>
            <a:ext cx="3840480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UF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48640" y="2115122"/>
            <a:ext cx="3840480" cy="46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Ultrafiltration — 5–100 kDa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1097280"/>
            <a:ext cx="4023360" cy="1565910"/>
          </a:xfrm>
          <a:prstGeom prst="roundRect">
            <a:avLst>
              <a:gd name="adj" fmla="val 5839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1188720"/>
            <a:ext cx="3840480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2B0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NF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4754880" y="2115122"/>
            <a:ext cx="3840480" cy="46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Nanofiltration — Selective 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800350"/>
            <a:ext cx="4023360" cy="1565910"/>
          </a:xfrm>
          <a:prstGeom prst="roundRect">
            <a:avLst>
              <a:gd name="adj" fmla="val 5839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2891790"/>
            <a:ext cx="3840480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63338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RO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48640" y="3818192"/>
            <a:ext cx="3840480" cy="46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Reverse Osmosis — 98%+ TDS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2800350"/>
            <a:ext cx="4023360" cy="1565910"/>
          </a:xfrm>
          <a:prstGeom prst="roundRect">
            <a:avLst>
              <a:gd name="adj" fmla="val 5839"/>
            </a:avLst>
          </a:prstGeom>
          <a:solidFill>
            <a:srgbClr val="F8FAFB"/>
          </a:solidFill>
          <a:ln w="12700">
            <a:solidFill>
              <a:srgbClr val="CFD9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2891790"/>
            <a:ext cx="3840480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88F9C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EDI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4754880" y="3818192"/>
            <a:ext cx="3840480" cy="469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Electrodeionisation — UPW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FD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15–20%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Sugar Recovery Improvement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Typical improvement after Ichita chromatographic SMB integration — customer results may vary.</a:t>
            </a:r>
            <a:endParaRPr lang="en-US" sz="1000" dirty="0"/>
          </a:p>
        </p:txBody>
      </p:sp>
      <p:pic>
        <p:nvPicPr>
          <p:cNvPr id="5" name="Image 0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D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Advanced Layouts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Comparison, Timeline, Table, Process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pic>
        <p:nvPicPr>
          <p:cNvPr id="6" name="Image 0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Before vs After Membrane Upgrade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57200" y="1005840"/>
            <a:ext cx="400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Before — Conventional Filter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686300" y="1005840"/>
            <a:ext cx="4000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78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After — UF + NF System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0" y="1005840"/>
            <a:ext cx="0" cy="3360420"/>
          </a:xfrm>
          <a:prstGeom prst="line">
            <a:avLst/>
          </a:prstGeom>
          <a:noFill/>
          <a:ln w="19050">
            <a:solidFill>
              <a:srgbClr val="CFD9D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1613916"/>
            <a:ext cx="91440" cy="91440"/>
          </a:xfrm>
          <a:prstGeom prst="ellipse">
            <a:avLst/>
          </a:prstGeom>
          <a:solidFill>
            <a:srgbClr val="788F9C"/>
          </a:solidFill>
          <a:ln w="12700">
            <a:solidFill>
              <a:srgbClr val="788F9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" y="146304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Sand filter pre-treatment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68096" y="187589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Requires frequent backwash; inconsistent effluent quality.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6928" y="2596896"/>
            <a:ext cx="91440" cy="91440"/>
          </a:xfrm>
          <a:prstGeom prst="ellipse">
            <a:avLst/>
          </a:prstGeom>
          <a:solidFill>
            <a:srgbClr val="788F9C"/>
          </a:solidFill>
          <a:ln w="12700">
            <a:solidFill>
              <a:srgbClr val="788F9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244602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High chemical dosing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8096" y="285887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Coagulant and flocculant costs escalate with feed variability.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" y="3579876"/>
            <a:ext cx="91440" cy="91440"/>
          </a:xfrm>
          <a:prstGeom prst="ellipse">
            <a:avLst/>
          </a:prstGeom>
          <a:solidFill>
            <a:srgbClr val="788F9C"/>
          </a:solidFill>
          <a:ln w="12700">
            <a:solidFill>
              <a:srgbClr val="788F9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" y="342900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Manual QC sampling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68096" y="384185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Lab turnaround 4–8 hrs; no real-time control feedback.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96028" y="1613916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97196" y="146304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UF membrane pre-treatment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97196" y="187589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Consistent SDI &lt; 2; continuous operation with CIP.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96028" y="2596896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97196" y="244602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60–70% chemical reduction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97196" y="285887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NF removes colour and hardness without secondary dosing.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96028" y="3579876"/>
            <a:ext cx="91440" cy="91440"/>
          </a:xfrm>
          <a:prstGeom prst="ellipse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97196" y="3429000"/>
            <a:ext cx="3689604" cy="412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Inline turbidity + conductivity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997196" y="3841852"/>
            <a:ext cx="3689604" cy="47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Real-time monitoring; automatic alarm and divert.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EPC Project Delivery Timeline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1280160" y="2377440"/>
            <a:ext cx="6583680" cy="0"/>
          </a:xfrm>
          <a:prstGeom prst="line">
            <a:avLst/>
          </a:prstGeom>
          <a:noFill/>
          <a:ln w="25400">
            <a:solidFill>
              <a:srgbClr val="CFD9D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15568" y="2212848"/>
            <a:ext cx="329184" cy="329184"/>
          </a:xfrm>
          <a:prstGeom prst="ellipse">
            <a:avLst/>
          </a:prstGeom>
          <a:solidFill>
            <a:srgbClr val="297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1556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29992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Site survey, feed analysis, process audit.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61488" y="2212848"/>
            <a:ext cx="329184" cy="329184"/>
          </a:xfrm>
          <a:prstGeom prst="ellipse">
            <a:avLst/>
          </a:prstGeom>
          <a:solidFill>
            <a:srgbClr val="297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6148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14884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Design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48840" y="29992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P&amp;ID, equipment sizing, hydraulic modelling.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407408" y="2212848"/>
            <a:ext cx="329184" cy="329184"/>
          </a:xfrm>
          <a:prstGeom prst="ellipse">
            <a:avLst/>
          </a:prstGeom>
          <a:solidFill>
            <a:srgbClr val="297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0740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79476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Fabrication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794760" y="29992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Skid build, membrane loading, FAT.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53328" y="2212848"/>
            <a:ext cx="329184" cy="329184"/>
          </a:xfrm>
          <a:prstGeom prst="ellipse">
            <a:avLst/>
          </a:prstGeom>
          <a:solidFill>
            <a:srgbClr val="297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5332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4068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40680" y="29992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Civil interface, piping, electrical, controls.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699248" y="2212848"/>
            <a:ext cx="329184" cy="329184"/>
          </a:xfrm>
          <a:prstGeom prst="ellipse">
            <a:avLst/>
          </a:prstGeom>
          <a:solidFill>
            <a:srgbClr val="297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99248" y="2212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08660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Handover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086600" y="29992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SAT, operator training, performance guarantee.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UPW System — Process Parameters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97280"/>
            <a:ext cx="1810512" cy="347472"/>
          </a:xfrm>
          <a:prstGeom prst="rect">
            <a:avLst/>
          </a:prstGeom>
          <a:solidFill>
            <a:srgbClr val="263338"/>
          </a:solidFill>
          <a:ln w="12700">
            <a:solidFill>
              <a:srgbClr val="26333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0352" y="1097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67712" y="1097280"/>
            <a:ext cx="1563624" cy="347472"/>
          </a:xfrm>
          <a:prstGeom prst="rect">
            <a:avLst/>
          </a:prstGeom>
          <a:solidFill>
            <a:srgbClr val="263338"/>
          </a:solidFill>
          <a:ln w="12700">
            <a:solidFill>
              <a:srgbClr val="2633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40864" y="109728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UF Permeate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831336" y="1097280"/>
            <a:ext cx="1563624" cy="347472"/>
          </a:xfrm>
          <a:prstGeom prst="rect">
            <a:avLst/>
          </a:prstGeom>
          <a:solidFill>
            <a:srgbClr val="263338"/>
          </a:solidFill>
          <a:ln w="12700">
            <a:solidFill>
              <a:srgbClr val="2633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04488" y="1097280"/>
            <a:ext cx="1490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NF Permeate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94960" y="1097280"/>
            <a:ext cx="1645920" cy="347472"/>
          </a:xfrm>
          <a:prstGeom prst="rect">
            <a:avLst/>
          </a:prstGeom>
          <a:solidFill>
            <a:srgbClr val="263338"/>
          </a:solidFill>
          <a:ln w="12700">
            <a:solidFill>
              <a:srgbClr val="26333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68112" y="1097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RO Permeate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040880" y="1097280"/>
            <a:ext cx="1645920" cy="347472"/>
          </a:xfrm>
          <a:prstGeom prst="rect">
            <a:avLst/>
          </a:prstGeom>
          <a:solidFill>
            <a:srgbClr val="263338"/>
          </a:solidFill>
          <a:ln w="12700">
            <a:solidFill>
              <a:srgbClr val="26333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14032" y="1097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EDI Product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1444752"/>
            <a:ext cx="18105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0352" y="14447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Turbidity (NTU)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67712" y="1444752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40864" y="14447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831336" y="1444752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04488" y="14447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0.05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94960" y="144475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68112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0.01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040880" y="144475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14032" y="144475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0.01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1737360"/>
            <a:ext cx="1810512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0352" y="17373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Conductivity (µS/cm)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267712" y="1737360"/>
            <a:ext cx="1563624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340864" y="1737360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50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831336" y="1737360"/>
            <a:ext cx="1563624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04488" y="1737360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20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394960" y="1737360"/>
            <a:ext cx="1645920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468112" y="17373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2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040880" y="1737360"/>
            <a:ext cx="1645920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114032" y="17373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0.055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7200" y="2029968"/>
            <a:ext cx="18105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30352" y="2029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TDS (mg/L)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2267712" y="2029968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340864" y="2029968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35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831336" y="2029968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904488" y="2029968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15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394960" y="202996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68112" y="20299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≤ 1.5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040880" y="202996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114032" y="20299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0.05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57200" y="2322576"/>
            <a:ext cx="1810512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30352" y="23225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SDI (15 min)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2267712" y="2322576"/>
            <a:ext cx="1563624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340864" y="232257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2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3831336" y="2322576"/>
            <a:ext cx="1563624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904488" y="2322576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N/A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5394960" y="2322576"/>
            <a:ext cx="1645920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468112" y="23225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1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7040880" y="2322576"/>
            <a:ext cx="1645920" cy="292608"/>
          </a:xfrm>
          <a:prstGeom prst="rect">
            <a:avLst/>
          </a:prstGeom>
          <a:solidFill>
            <a:srgbClr val="F0F4F5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114032" y="23225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N/A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457200" y="2615184"/>
            <a:ext cx="18105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30352" y="2615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TOC (µg/L)</a:t>
            </a:r>
            <a:endParaRPr lang="en-US" sz="1100" dirty="0"/>
          </a:p>
        </p:txBody>
      </p:sp>
      <p:sp>
        <p:nvSpPr>
          <p:cNvPr id="59" name="Shape 55"/>
          <p:cNvSpPr/>
          <p:nvPr/>
        </p:nvSpPr>
        <p:spPr>
          <a:xfrm>
            <a:off x="2267712" y="2615184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340864" y="2615184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500</a:t>
            </a:r>
            <a:endParaRPr lang="en-US" sz="1100" dirty="0"/>
          </a:p>
        </p:txBody>
      </p:sp>
      <p:sp>
        <p:nvSpPr>
          <p:cNvPr id="61" name="Shape 57"/>
          <p:cNvSpPr/>
          <p:nvPr/>
        </p:nvSpPr>
        <p:spPr>
          <a:xfrm>
            <a:off x="3831336" y="2615184"/>
            <a:ext cx="1563624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3904488" y="2615184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200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5394960" y="2615184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468112" y="261518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100</a:t>
            </a:r>
            <a:endParaRPr lang="en-US" sz="1100" dirty="0"/>
          </a:p>
        </p:txBody>
      </p:sp>
      <p:sp>
        <p:nvSpPr>
          <p:cNvPr id="65" name="Shape 61"/>
          <p:cNvSpPr/>
          <p:nvPr/>
        </p:nvSpPr>
        <p:spPr>
          <a:xfrm>
            <a:off x="7040880" y="2615184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FD9DB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114032" y="261518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&lt; 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content-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73152" cy="47320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68880" y="9144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UPW Treatment Train</a:t>
            </a:r>
            <a:endParaRPr lang="en-US" sz="2400" dirty="0"/>
          </a:p>
        </p:txBody>
      </p:sp>
      <p:pic>
        <p:nvPicPr>
          <p:cNvPr id="5" name="Image 1" descr="/home/ohyeah/ghq/github.com/Siwatch-OhYeaH/ichita-skills/assets/logos/ichita-wordmark-dark-on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40580"/>
            <a:ext cx="109728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Raw Water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638300" y="2057400"/>
            <a:ext cx="228600" cy="0"/>
          </a:xfrm>
          <a:prstGeom prst="line">
            <a:avLst/>
          </a:prstGeom>
          <a:noFill/>
          <a:ln w="19050">
            <a:solidFill>
              <a:srgbClr val="263338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18669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9126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UF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048000" y="2057400"/>
            <a:ext cx="228600" cy="0"/>
          </a:xfrm>
          <a:prstGeom prst="line">
            <a:avLst/>
          </a:prstGeom>
          <a:noFill/>
          <a:ln w="19050">
            <a:solidFill>
              <a:srgbClr val="263338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2766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223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NF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457700" y="2057400"/>
            <a:ext cx="228600" cy="0"/>
          </a:xfrm>
          <a:prstGeom prst="line">
            <a:avLst/>
          </a:prstGeom>
          <a:noFill/>
          <a:ln w="19050">
            <a:solidFill>
              <a:srgbClr val="26333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6863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320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RO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67400" y="2057400"/>
            <a:ext cx="228600" cy="0"/>
          </a:xfrm>
          <a:prstGeom prst="line">
            <a:avLst/>
          </a:prstGeom>
          <a:noFill/>
          <a:ln w="19050">
            <a:solidFill>
              <a:srgbClr val="263338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960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417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EDI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277100" y="2057400"/>
            <a:ext cx="228600" cy="0"/>
          </a:xfrm>
          <a:prstGeom prst="line">
            <a:avLst/>
          </a:prstGeom>
          <a:noFill/>
          <a:ln w="19050">
            <a:solidFill>
              <a:srgbClr val="263338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505700" y="1737360"/>
            <a:ext cx="1181100" cy="640080"/>
          </a:xfrm>
          <a:prstGeom prst="roundRect">
            <a:avLst>
              <a:gd name="adj" fmla="val 8571"/>
            </a:avLst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51420" y="1737360"/>
            <a:ext cx="1089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UPW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0" y="4183380"/>
            <a:ext cx="9144000" cy="502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4183380"/>
            <a:ext cx="54864" cy="502920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82880" y="42291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338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Each stage is engineered as a system — not a product sale. Integration ensures guaranteed effluent quality.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hyeah/ghq/github.com/Siwatch-OhYeaH/ichita-skills/assets/brand/ichita-dark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78FF"/>
          </a:solidFill>
          <a:ln w="12700">
            <a:solidFill>
              <a:srgbClr val="297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978FF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Innovative · Reliable · Partnership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  |  info@ichita.co.th  |  +66 (0) 2-xxx-xxxx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0" y="48691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F9C"/>
                </a:solidFill>
                <a:latin typeface="Aeonik" pitchFamily="34" charset="0"/>
                <a:ea typeface="Aeonik" pitchFamily="34" charset="-122"/>
                <a:cs typeface="Aeonik" pitchFamily="34" charset="-120"/>
              </a:rPr>
              <a:t>www.ichita.co.th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ภาษาไทย — Thai Glyph Smoke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ระบบกรอง UF + NF ของ Ichita ผลิตน้ำเชื่อมใสคุณภาพอาหาร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8F9C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Mixed text: 99.2% efficiency / ประสิทธิภาพ 99.2%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Ichita Slide Library Test Deck</dc:title>
  <dc:subject>All layout types and block components — Visual QA</dc:subject>
  <dc:creator>Davinci Oracle</dc:creator>
  <cp:lastModifiedBy>Davinci Oracle</cp:lastModifiedBy>
  <cp:revision>1</cp:revision>
  <dcterms:created xsi:type="dcterms:W3CDTF">2026-05-06T07:46:51Z</dcterms:created>
  <dcterms:modified xsi:type="dcterms:W3CDTF">2026-05-06T07:46:51Z</dcterms:modified>
</cp:coreProperties>
</file>