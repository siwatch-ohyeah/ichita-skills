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removal</c:v>
                </c:pt>
              </c:strCache>
            </c:strRef>
          </c:tx>
          <c:spPr>
            <a:solidFill>
              <a:srgbClr val="297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TH Aeoni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Cycle 1</c:v>
                  </c:pt>
                  <c:pt idx="1">
                    <c:v>Cycle 2</c:v>
                  </c:pt>
                  <c:pt idx="2">
                    <c:v>Cycle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80</c:v>
                </c:pt>
                <c:pt idx="2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TH Aeoni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H Aeoni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F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H Aeoni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COVER">
    <p:bg>
      <p:bgPr>
        <a:solidFill>
          <a:srgbClr val="26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78FF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914400"/>
            <a:ext cx="731520" cy="64008"/>
          </a:xfrm>
          <a:prstGeom prst="rect">
            <a:avLst/>
          </a:prstGeom>
          <a:solidFill>
            <a:srgbClr val="2978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480560"/>
            <a:ext cx="1463040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448056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8F9C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www.ichita.co.th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12648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200" kern="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400" spc="200" kern="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EYEBROW · YEAR</a:t>
            </a:r>
            <a:endParaRPr lang="en-US" sz="14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612648" y="1737360"/>
            <a:ext cx="8229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Presentation Title</a:t>
            </a:r>
            <a:endParaRPr lang="en-US" sz="48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12648" y="3749040"/>
            <a:ext cx="6035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Supporting line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481328"/>
            <a:ext cx="548640" cy="41148"/>
          </a:xfrm>
          <a:prstGeom prst="rect">
            <a:avLst/>
          </a:prstGeom>
          <a:solidFill>
            <a:srgbClr val="29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572000"/>
            <a:ext cx="1280160" cy="19202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612648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12648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12648" y="1783080"/>
            <a:ext cx="822960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Numbered sections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DIVIDER">
    <p:bg>
      <p:bgPr>
        <a:solidFill>
          <a:srgbClr val="CFD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572000"/>
            <a:ext cx="1280160" cy="1920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804672"/>
            <a:ext cx="4846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Section Title</a:t>
            </a:r>
            <a:endParaRPr lang="en-US" sz="3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303520" y="1005840"/>
            <a:ext cx="347472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80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02</a:t>
            </a:r>
            <a:endParaRPr lang="en-US" sz="18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28016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CFD9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950208"/>
            <a:ext cx="8229600" cy="713232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950208"/>
            <a:ext cx="54864" cy="713232"/>
          </a:xfrm>
          <a:prstGeom prst="rect">
            <a:avLst/>
          </a:prstGeom>
          <a:solidFill>
            <a:srgbClr val="2978FF"/>
          </a:solidFill>
          <a:ln/>
        </p:spPr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2011680" y="128016"/>
            <a:ext cx="66751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Slide title</a:t>
            </a:r>
            <a:endParaRPr lang="en-US" sz="2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Body content</a:t>
            </a:r>
            <a:endParaRPr lang="en-US" sz="15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94944" y="4023360"/>
            <a:ext cx="77724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One takeaway the audience must remember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KPI">
    <p:bg>
      <p:bgPr>
        <a:solidFill>
          <a:srgbClr val="788F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38912"/>
            <a:ext cx="1280160" cy="1920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43891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3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RESULTS</a:t>
            </a:r>
            <a:endParaRPr lang="en-US" sz="13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12648" y="1280160"/>
            <a:ext cx="813816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Three figures across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DEN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74320"/>
            <a:ext cx="128016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25400">
            <a:solidFill>
              <a:srgbClr val="263338"/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19456"/>
            <a:ext cx="45720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TECHNICAL APPENDIX</a:t>
            </a:r>
            <a:endParaRPr lang="en-US" sz="11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411480" y="402336"/>
            <a:ext cx="676656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9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Dense technical title</a:t>
            </a:r>
            <a:endParaRPr lang="en-US" sz="19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411480" y="868680"/>
            <a:ext cx="466344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Table or spec list</a:t>
            </a:r>
            <a:endParaRPr lang="en-US" sz="1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257800" y="868680"/>
            <a:ext cx="347472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Chart or figures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H_CLOSING">
    <p:bg>
      <p:bgPr>
        <a:solidFill>
          <a:srgbClr val="26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97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4480560"/>
            <a:ext cx="1463040" cy="21945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12648" y="1600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Let's design the process.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12648" y="297180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ICHITA Co., Ltd. · www.ichita.co.th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612648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COMPANY INTRODUCTION · 2026</a:t>
            </a:r>
            <a:endParaRPr lang="en-US" sz="14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612648" y="1737360"/>
            <a:ext cx="8229600" cy="1920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Liquid </a:t>
            </a:r>
            <a:pPr indent="0" marL="0">
              <a:buNone/>
            </a:pPr>
            <a:r>
              <a:rPr lang="en-US" sz="4800" b="1" dirty="0">
                <a:solidFill>
                  <a:srgbClr val="2978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Separation</a:t>
            </a:r>
            <a:pPr indent="0" marL="0">
              <a:buNone/>
            </a:pP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Technologies</a:t>
            </a:r>
            <a:endParaRPr lang="en-US" sz="48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12648" y="3749040"/>
            <a:ext cx="603504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rgbClr val="CFD9DB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Process design, engineering and original equipment for water treatment and industrial purification.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12648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12648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0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12648" y="1783080"/>
            <a:ext cx="8229600" cy="2651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01   Pilot Setup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02   Colour Breakthrough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03   Performance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04   Regeneration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12648" y="475488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SECTION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12648" y="804672"/>
            <a:ext cx="48463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Process Design &amp; Engineering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303520" y="1005840"/>
            <a:ext cx="3474720" cy="3291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r>
              <a:rPr lang="en-US" sz="18000" dirty="0">
                <a:solidFill>
                  <a:srgbClr val="2978FF"/>
                </a:solidFill>
                <a:latin typeface="Betatron" pitchFamily="34" charset="0"/>
                <a:ea typeface="Betatron" pitchFamily="34" charset="-122"/>
                <a:cs typeface="Betatron" pitchFamily="34" charset="-120"/>
              </a:rPr>
              <a:t>02</a:t>
            </a:r>
            <a:endParaRPr lang="en-US" sz="18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2011680" y="128016"/>
            <a:ext cx="667512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Capability overview</a:t>
            </a:r>
            <a:endParaRPr lang="en-US" sz="22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457200" y="1005840"/>
            <a:ext cx="8229600" cy="2743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Ion exchange — column design, resin selection and regeneration modelling.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Membranes — RO, NF and UF process packages built to duty.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Adsorption — regenerable adsorbent systems with no brine stream.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694944" y="4023360"/>
            <a:ext cx="777240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One takeaway per slide — replace this line with the point the audience must remember.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12648" y="43891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PILOT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12801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80%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12648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COLOUR REDUCTION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47288" y="12801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47288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BRINE WASTEWATER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81928" y="12801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2.4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281928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BED VOLUMES / HOUR</a:t>
            </a:r>
            <a:endParaRPr lang="en-US" sz="120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612648" y="1280160"/>
            <a:ext cx="8138160" cy="2926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411480" y="219456"/>
            <a:ext cx="4572000" cy="23774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6472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TECHNICAL APPENDIX · A2</a:t>
            </a:r>
            <a:endParaRPr lang="en-US" sz="11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411480" y="402336"/>
            <a:ext cx="6766560" cy="32918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900" b="1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Two-stage decolorisation — design basis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4663440" cy="914400"/>
        </p:xfrm>
        <a:graphic>
          <a:graphicData uri="http://schemas.openxmlformats.org/drawingml/2006/table">
            <a:tbl>
              <a:tblPr/>
              <a:tblGrid>
                <a:gridCol w="1165860"/>
                <a:gridCol w="1165860"/>
                <a:gridCol w="1165860"/>
                <a:gridCol w="11658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Parameter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Stage 1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Stage 2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Unit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Resin volume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25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25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F6472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L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Flow rate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60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60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F6472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L/h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Feed colour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1,245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480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F6472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IU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Outlet colour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480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35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F6472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IU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Removal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61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93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F6472"/>
                          </a:solidFill>
                          <a:latin typeface="TH Aeonik" pitchFamily="34" charset="0"/>
                          <a:ea typeface="TH Aeonik" pitchFamily="34" charset="-122"/>
                          <a:cs typeface="TH Aeonik" pitchFamily="34" charset="-120"/>
                        </a:rPr>
                        <a:t>%</a:t>
                      </a:r>
                      <a:endParaRPr lang="en-US" sz="1100" dirty="0">
                        <a:latin typeface="TH Aeonik" charset="0"/>
                        <a:ea typeface="TH Aeonik" charset="0"/>
                        <a:cs typeface="TH Aeoni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257800" y="914400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25780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338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Two stages in series are required to reach &lt;35 IU; a single stage cannot meet spec.</a:t>
            </a:r>
            <a:endParaRPr lang="en-US" sz="11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411480" y="868680"/>
            <a:ext cx="4663440" cy="365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257800" y="868680"/>
            <a:ext cx="3474720" cy="3657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12648" y="1600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Let's design the </a:t>
            </a:r>
            <a:pPr indent="0" marL="0">
              <a:buNone/>
            </a:pPr>
            <a:r>
              <a:rPr lang="en-US" sz="4000" b="1" dirty="0">
                <a:solidFill>
                  <a:srgbClr val="82B0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process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H Aeonik" pitchFamily="34" charset="0"/>
                <a:ea typeface="TH Aeonik" pitchFamily="34" charset="-122"/>
                <a:cs typeface="TH Aeonik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12648" y="297180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HITA">
  <a:themeElements>
    <a:clrScheme name="ICHITA">
      <a:dk1>
        <a:srgbClr val="263338"/>
      </a:dk1>
      <a:lt1>
        <a:srgbClr val="FFFFFF"/>
      </a:lt1>
      <a:dk2>
        <a:srgbClr val="171C21"/>
      </a:dk2>
      <a:lt2>
        <a:srgbClr val="CFD9DB"/>
      </a:lt2>
      <a:accent1>
        <a:srgbClr val="2978FF"/>
      </a:accent1>
      <a:accent2>
        <a:srgbClr val="82B0FF"/>
      </a:accent2>
      <a:accent3>
        <a:srgbClr val="788F9C"/>
      </a:accent3>
      <a:accent4>
        <a:srgbClr val="2EA885"/>
      </a:accent4>
      <a:accent5>
        <a:srgbClr val="E6A100"/>
      </a:accent5>
      <a:accent6>
        <a:srgbClr val="D64545"/>
      </a:accent6>
      <a:hlink>
        <a:srgbClr val="1A56C4"/>
      </a:hlink>
      <a:folHlink>
        <a:srgbClr val="4F6472"/>
      </a:folHlink>
    </a:clrScheme>
    <a:fontScheme name="ICHITA">
      <a:majorFont>
        <a:latin typeface="TH Aeonik"/>
        <a:ea typeface=""/>
        <a:cs typeface="TH Aeonik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H Aeoni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Aeonik"/>
        <a:ea typeface=""/>
        <a:cs typeface="TH Aeonik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H Aeoni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ICHITA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ICHITA Presentation Template</dc:title>
  <dc:subject>PptxGenJS Presentation</dc:subject>
  <dc:creator>ICHITA Co., Ltd.</dc:creator>
  <cp:lastModifiedBy>ICHITA Co., Ltd.</cp:lastModifiedBy>
  <cp:revision>1</cp:revision>
  <dcterms:created xsi:type="dcterms:W3CDTF">2026-08-01T05:17:26Z</dcterms:created>
  <dcterms:modified xsi:type="dcterms:W3CDTF">2026-08-01T05:17:26Z</dcterms:modified>
</cp:coreProperties>
</file>